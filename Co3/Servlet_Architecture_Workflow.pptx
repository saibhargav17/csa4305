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4206240" cy="4206240"/>
          </a:xfrm>
          <a:prstGeom prst="ellipse">
            <a:avLst/>
          </a:prstGeom>
          <a:solidFill>
            <a:srgbClr val="2B3A73"/>
          </a:solidFill>
          <a:ln/>
        </p:spPr>
      </p:sp>
      <p:sp>
        <p:nvSpPr>
          <p:cNvPr id="3" name="Shape 1"/>
          <p:cNvSpPr/>
          <p:nvPr/>
        </p:nvSpPr>
        <p:spPr>
          <a:xfrm>
            <a:off x="-1554480" y="4754880"/>
            <a:ext cx="3383280" cy="3383280"/>
          </a:xfrm>
          <a:prstGeom prst="ellipse">
            <a:avLst/>
          </a:prstGeom>
          <a:solidFill>
            <a:srgbClr val="2B3A7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02920" cy="502920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SERVLET ARCHITECTURE &amp; WORKFLOW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Request–Response Cycle in the Java Web Container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3977640"/>
            <a:ext cx="2926080" cy="0"/>
          </a:xfrm>
          <a:prstGeom prst="line">
            <a:avLst/>
          </a:prstGeom>
          <a:noFill/>
          <a:ln w="25400">
            <a:solidFill>
              <a:srgbClr val="3FC1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Client–Server Interaction  •  Role of the Web Container  •  Request &amp; Response Objects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5989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G Achyuth Venkat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192311102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Servlet Architecture — Layered 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servlet request passes through four cooperating layers before it reaches application logic.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5156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1295C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6712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 / HTTP Client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600200"/>
            <a:ext cx="7635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 HTTP request (GET, POST, ...) to a URL and renders whatever HTML/JSON/XML comes back.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26426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105156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1295C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862072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0266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34290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Apache HTTP, Nginx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0" y="2862072"/>
            <a:ext cx="7635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the raw HTTP connection and forwards dynamic-content requests to the servlet container.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390448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123944"/>
            <a:ext cx="105156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1295C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123944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8853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/ Servlet Container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69087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Apache Tomcat, Jetty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4123944"/>
            <a:ext cx="7635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servlet life cycle, threading, and security; wraps the request into Java objects and routes it to the right servlet.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516636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5385816"/>
            <a:ext cx="1051560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1295C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5385816"/>
            <a:ext cx="2331720" cy="1060704"/>
          </a:xfrm>
          <a:prstGeom prst="roundRect">
            <a:avLst>
              <a:gd name="adj" fmla="val 6897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550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Servlet + Business Layer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" y="59527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Servlet, DAO, Database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0" y="5385816"/>
            <a:ext cx="76352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application logic, talks to the database if needed, and builds the response content.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Request–Response 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single HTTP request travels from the browser to the servlet and back.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2B3A73"/>
          </a:solidFill>
          <a:ln w="12700">
            <a:solidFill>
              <a:srgbClr val="3FC1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143000" y="2057400"/>
            <a:ext cx="0" cy="4389120"/>
          </a:xfrm>
          <a:prstGeom prst="line">
            <a:avLst/>
          </a:prstGeom>
          <a:noFill/>
          <a:ln w="12700">
            <a:solidFill>
              <a:srgbClr val="BFE3F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337560" y="146304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2B3A73"/>
          </a:solidFill>
          <a:ln w="12700">
            <a:solidFill>
              <a:srgbClr val="3FC1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60520" y="2057400"/>
            <a:ext cx="0" cy="4389120"/>
          </a:xfrm>
          <a:prstGeom prst="line">
            <a:avLst/>
          </a:prstGeom>
          <a:noFill/>
          <a:ln w="12700">
            <a:solidFill>
              <a:srgbClr val="BFE3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46520" y="146304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2B3A73"/>
          </a:solidFill>
          <a:ln w="12700">
            <a:solidFill>
              <a:srgbClr val="3FC1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69480" y="2057400"/>
            <a:ext cx="0" cy="4389120"/>
          </a:xfrm>
          <a:prstGeom prst="line">
            <a:avLst/>
          </a:prstGeom>
          <a:noFill/>
          <a:ln w="12700">
            <a:solidFill>
              <a:srgbClr val="BFE3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601200" y="1463040"/>
            <a:ext cx="1645920" cy="594360"/>
          </a:xfrm>
          <a:prstGeom prst="roundRect">
            <a:avLst>
              <a:gd name="adj" fmla="val 9231"/>
            </a:avLst>
          </a:prstGeom>
          <a:solidFill>
            <a:srgbClr val="2B3A73"/>
          </a:solidFill>
          <a:ln w="12700">
            <a:solidFill>
              <a:srgbClr val="3FC1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1463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424160" y="2057400"/>
            <a:ext cx="0" cy="4389120"/>
          </a:xfrm>
          <a:prstGeom prst="line">
            <a:avLst/>
          </a:prstGeom>
          <a:noFill/>
          <a:ln w="12700">
            <a:solidFill>
              <a:srgbClr val="BFE3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143000" y="2286000"/>
            <a:ext cx="3017520" cy="0"/>
          </a:xfrm>
          <a:prstGeom prst="line">
            <a:avLst/>
          </a:prstGeom>
          <a:noFill/>
          <a:ln w="20320">
            <a:solidFill>
              <a:srgbClr val="3FC1C9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143000" y="20116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 request (URL)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60520" y="2743200"/>
            <a:ext cx="3108960" cy="0"/>
          </a:xfrm>
          <a:prstGeom prst="line">
            <a:avLst/>
          </a:prstGeom>
          <a:noFill/>
          <a:ln w="20320">
            <a:solidFill>
              <a:srgbClr val="BFE3F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160520" y="2468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forward dynamic request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329184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3FC1C9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319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Request / Response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5387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HttpServletRequest &amp; HttpServletResponse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69480" y="3886200"/>
            <a:ext cx="3154680" cy="0"/>
          </a:xfrm>
          <a:prstGeom prst="line">
            <a:avLst/>
          </a:prstGeom>
          <a:noFill/>
          <a:ln w="20320">
            <a:solidFill>
              <a:srgbClr val="3FC1C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269480" y="36118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service(req, res)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555480" y="443484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3FC1C9"/>
          </a:solidFill>
          <a:ln/>
        </p:spPr>
      </p:sp>
      <p:sp>
        <p:nvSpPr>
          <p:cNvPr id="26" name="Text 24"/>
          <p:cNvSpPr/>
          <p:nvPr/>
        </p:nvSpPr>
        <p:spPr>
          <a:xfrm>
            <a:off x="9555480" y="446227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doGet() / doPost()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55480" y="46817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request, writes response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H="1">
            <a:off x="7269480" y="5029200"/>
            <a:ext cx="3154680" cy="0"/>
          </a:xfrm>
          <a:prstGeom prst="line">
            <a:avLst/>
          </a:prstGeom>
          <a:noFill/>
          <a:ln w="20320">
            <a:solidFill>
              <a:srgbClr val="BFE3F0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269480" y="475488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response content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flipH="1">
            <a:off x="4160520" y="5486400"/>
            <a:ext cx="3108960" cy="0"/>
          </a:xfrm>
          <a:prstGeom prst="line">
            <a:avLst/>
          </a:prstGeom>
          <a:noFill/>
          <a:ln w="20320">
            <a:solidFill>
              <a:srgbClr val="3FC1C9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160520" y="5212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HTTP response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 flipH="1">
            <a:off x="1143000" y="5943600"/>
            <a:ext cx="3017520" cy="0"/>
          </a:xfrm>
          <a:prstGeom prst="line">
            <a:avLst/>
          </a:prstGeom>
          <a:noFill/>
          <a:ln w="20320">
            <a:solidFill>
              <a:srgbClr val="3FC1C9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143000" y="5669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rendered page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ROOM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the Web Container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8961120" cy="41148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984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Tomcat  •  Jetty  •  WildFly  •  Payara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178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221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185416"/>
            <a:ext cx="4411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cycle management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2715768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servlet class, calls init() once, dispatches service() per request, and calls destroy() on shutdown.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5060" y="1965960"/>
            <a:ext cx="54178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51092" y="222199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092" y="2221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2300" y="2185416"/>
            <a:ext cx="4411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/ response wrapping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51092" y="2715768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raw HTTP socket stream into HttpServletRequest and HttpServletResponse Java objects.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54178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41148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4078224"/>
            <a:ext cx="4411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Multithreading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04672" y="4608576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incoming request its own thread from a pool, allowing concurrent handling on a single servlet instance.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5060" y="3858768"/>
            <a:ext cx="54178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BFE3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51092" y="41148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451092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72300" y="4078224"/>
            <a:ext cx="44119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session management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51092" y="4608576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authentication/authorization rules from web.xml and maintains HttpSession state across requests.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797296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BFE3F0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7972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The container is the bridge between the raw network layer and the developer's Java code — it is never bypassed.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&amp; Response Objects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objects the container hands every servlet method on every call.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2B3A7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HttpServletRequest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everything the client sent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68680" y="2752344"/>
            <a:ext cx="82296" cy="82296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606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getParameter() / getParameterMap()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" y="29169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form fields and query-string values submitted by the client.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621024"/>
            <a:ext cx="82296" cy="82296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getHeader() / getCookies()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97280" y="3785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HTTP headers and cookies sent along with the request.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8680" y="4489704"/>
            <a:ext cx="82296" cy="82296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getSession()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4654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(or creates) the HttpSession tied to this client.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5358384"/>
            <a:ext cx="82296" cy="82296"/>
          </a:xfrm>
          <a:prstGeom prst="ellipse">
            <a:avLst/>
          </a:prstGeom>
          <a:solidFill>
            <a:srgbClr val="3FC1C9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212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C1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getInputStream() / getReader()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097280" y="5522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raw access to the request body for JSON, file uploads, etc.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60020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1874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HttpServletResponse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3796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everything sent back to the client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275234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606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setContentType() / setStatus()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766560" y="29169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MIME type (e.g. text/html) and HTTP status code of the reply.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362102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474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getWriter() / getOutputStream()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66560" y="37856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stream to write character or binary response content.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37960" y="448970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addHeader() / addCookie()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766560" y="4654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custom HTTP headers or sets cookies on the client.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37960" y="5358384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5212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sendRedirect()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66560" y="55229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an HTTP redirect, sending the client to a different URL.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layered servlet architecture matters in practice.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041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1295C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756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server handles raw HTTP and static content; the container handles Java logic — neither needs to know the other's internals.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08776" y="1600200"/>
            <a:ext cx="54041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1295C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185623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207568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does the heavy lifting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4808" y="251460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Threading, pooling, security, and object creation are handled automatically, so servlet code stays focused on business logic.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041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1295C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279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4988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Objects are the contract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HttpServletRequest and HttpServletResponse form a consistent API every servlet relies on, regardless of the underlying container.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4023360"/>
            <a:ext cx="540410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21295C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4279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44988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instance, many requests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4808" y="49377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servlet instance serves all clients concurrently — architecture that favors throughput over per-request overhead.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2026-08-13T06:22:34Z</dcterms:created>
  <dcterms:modified xsi:type="dcterms:W3CDTF">2026-08-13T06:22:34Z</dcterms:modified>
</cp:coreProperties>
</file>